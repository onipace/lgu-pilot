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94560"/>
            <a:ext cx="2743200" cy="36576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80"/>
              </a:lnSpc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PILLAR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9EDB"/>
                </a:solidFill>
                <a:latin typeface="Calibri"/>
              </a:defRPr>
            </a:pPr>
            <a:r>
              <a:t>Smart Legislation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From Paper Archives to Codified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Emil V. Capino  |  BayanAIhan</a:t>
            </a:r>
          </a:p>
          <a:p>
            <a:pPr algn="l">
              <a:lnSpc>
                <a:spcPts val="1820"/>
              </a:lnSpc>
              <a:spcAft>
                <a:spcPts val="600"/>
              </a:spcAft>
              <a:defRPr sz="1400" b="0">
                <a:solidFill>
                  <a:srgbClr val="009EDB"/>
                </a:solidFill>
                <a:latin typeface="Calibri"/>
              </a:defRPr>
            </a:pPr>
            <a:r>
              <a:t>pillar.bayanaihan.net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B81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349 Ordinances. 35 Years.</a:t>
            </a:r>
            <a:br/>
            <a:r>
              <a:t>Zero Digitized.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160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  •  Decades of legislation locked in filing cabinets — no search, no index</a:t>
            </a:r>
          </a:p>
          <a:p>
            <a:pPr algn="l">
              <a:lnSpc>
                <a:spcPts val="2600"/>
              </a:lnSpc>
              <a:spcAft>
                <a:spcPts val="160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  •  No way to detect contradictions between old and new ordinances</a:t>
            </a:r>
          </a:p>
          <a:p>
            <a:pPr algn="l">
              <a:lnSpc>
                <a:spcPts val="2600"/>
              </a:lnSpc>
              <a:spcAft>
                <a:spcPts val="160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  •  DILG compliance requires digitized, classified archives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9EDB"/>
                </a:solidFill>
                <a:latin typeface="Calibri"/>
              </a:defRPr>
            </a:pPr>
            <a:r>
              <a:t>LIKHA — Digitization</a:t>
            </a:r>
          </a:p>
        </p:txBody>
      </p:sp>
      <p:pic>
        <p:nvPicPr>
          <p:cNvPr id="3" name="Picture 2" descr="showcase-01-likha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04" y="685800"/>
            <a:ext cx="89408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Upload, OCR, classify — with mandatory human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9EDB"/>
                </a:solidFill>
                <a:latin typeface="Calibri"/>
              </a:defRPr>
            </a:pPr>
            <a:r>
              <a:t>LIKHA — Human-in-the-Loop Review</a:t>
            </a:r>
          </a:p>
        </p:txBody>
      </p:sp>
      <p:pic>
        <p:nvPicPr>
          <p:cNvPr id="3" name="Picture 2" descr="showcase-04-likha-hi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04" y="685800"/>
            <a:ext cx="89408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Every legal decision requires human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9EDB"/>
                </a:solidFill>
                <a:latin typeface="Calibri"/>
              </a:defRPr>
            </a:pPr>
            <a:r>
              <a:t>LIKHA — Published Archive</a:t>
            </a:r>
          </a:p>
        </p:txBody>
      </p:sp>
      <p:pic>
        <p:nvPicPr>
          <p:cNvPr id="3" name="Picture 2" descr="showcase-05-likha-publis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04" y="685800"/>
            <a:ext cx="89408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Searchable, classified, DILG-compliant archive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C853"/>
                </a:solidFill>
                <a:latin typeface="Calibri"/>
              </a:defRPr>
            </a:pPr>
            <a:r>
              <a:t>LINAW — Codification Engine</a:t>
            </a:r>
          </a:p>
        </p:txBody>
      </p:sp>
      <p:pic>
        <p:nvPicPr>
          <p:cNvPr id="3" name="Picture 2" descr="showcase-06-linaw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266" y="685800"/>
            <a:ext cx="3418075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Import, classify, cross-reference, assemble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C853"/>
                </a:solidFill>
                <a:latin typeface="Calibri"/>
              </a:defRPr>
            </a:pPr>
            <a:r>
              <a:t>LINAW — Conflict Detection</a:t>
            </a:r>
          </a:p>
        </p:txBody>
      </p:sp>
      <p:pic>
        <p:nvPicPr>
          <p:cNvPr id="3" name="Picture 2" descr="showcase-08-linaw-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04" y="685800"/>
            <a:ext cx="89408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AI detects contradictions, humans decide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C853"/>
                </a:solidFill>
                <a:latin typeface="Calibri"/>
              </a:defRPr>
            </a:pPr>
            <a:r>
              <a:t>LINAW — Code Assembly</a:t>
            </a:r>
          </a:p>
        </p:txBody>
      </p:sp>
      <p:pic>
        <p:nvPicPr>
          <p:cNvPr id="3" name="Picture 2" descr="showcase-09-linaw-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04" y="685800"/>
            <a:ext cx="8940800" cy="5029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Ordinances → codified volumes,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C853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97.6% UAT Pass Rate.</a:t>
            </a:r>
            <a:br/>
            <a:r>
              <a:t>GO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009EDB"/>
                </a:solidFill>
                <a:latin typeface="Calibri"/>
              </a:defRPr>
            </a:pPr>
            <a:r>
              <a:t>14s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Avg. OCR</a:t>
            </a:r>
            <a:br/>
            <a:r>
              <a:t>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00C853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Cross-Reference</a:t>
            </a:r>
            <a:br/>
            <a: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B81C"/>
                </a:solidFill>
                <a:latin typeface="Calibri"/>
              </a:defRPr>
            </a:pPr>
            <a:r>
              <a:t>&lt;1ms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Full-Text</a:t>
            </a:r>
            <a:br/>
            <a: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6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349 ordinances digitized  •  35 years of legislation indexed  •  0 defects in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011680"/>
            <a:ext cx="6400800" cy="36576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Try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009EDB"/>
                </a:solidFill>
                <a:latin typeface="Calibri"/>
              </a:defRPr>
            </a:pPr>
            <a:r>
              <a:t>pillar.bayanaihan.net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38912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A0F1E"/>
                </a:solidFill>
              </a:defRPr>
            </a:pPr>
            <a:r>
              <a:t>QR</a:t>
            </a:r>
            <a:br/>
            <a:r>
              <a:t>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From paper to codified law, one ordinance at a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