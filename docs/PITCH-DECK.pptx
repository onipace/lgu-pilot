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32720" cy="12801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ctr"/>
            <a:r>
              <a:rPr sz="4800" b="1">
                <a:solidFill>
                  <a:srgbClr val="FFFFFF"/>
                </a:solidFill>
                <a:latin typeface="Calibri"/>
                <a:ea typeface="Microsoft YaHei"/>
              </a:rPr>
              <a:t>Paper Archives to Codified Law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474720"/>
            <a:ext cx="9418320" cy="10972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ctr"/>
            <a:r>
              <a:rPr sz="1800" b="0">
                <a:solidFill>
                  <a:srgbClr val="94A3B8"/>
                </a:solidFill>
                <a:latin typeface="Calibri"/>
                <a:ea typeface="Microsoft YaHei"/>
              </a:rPr>
              <a:t>PILLAR turns 35 years of unsearchable ordinances into a
searchable, codified digital archive — in…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120640"/>
            <a:ext cx="103327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ctr"/>
            <a:r>
              <a:rPr sz="1600" b="0">
                <a:solidFill>
                  <a:srgbClr val="F59E0B"/>
                </a:solidFill>
                <a:latin typeface="Calibri"/>
                <a:ea typeface="Microsoft YaHei"/>
              </a:rPr>
              <a:t>Emil V. Capino  |  BayanAIhan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669280"/>
            <a:ext cx="103327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ctr"/>
            <a:r>
              <a:rPr sz="1300" b="0">
                <a:solidFill>
                  <a:srgbClr val="10B981"/>
                </a:solidFill>
                <a:latin typeface="Calibri"/>
                <a:ea typeface="Microsoft YaHei"/>
              </a:rPr>
              <a:t>pillar.bayanaihan.net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  <a:ea typeface="Microsoft YaHei"/>
              </a:rPr>
              <a:t>349 Ordinances. Zero Digitized.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3657600" cy="20116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ctr"/>
            <a:r>
              <a:rPr sz="12000" b="1">
                <a:solidFill>
                  <a:srgbClr val="F59E0B"/>
                </a:solidFill>
                <a:latin typeface="Calibri"/>
                <a:ea typeface="Microsoft YaHei"/>
              </a:rPr>
              <a:t>349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657600"/>
            <a:ext cx="3657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ctr"/>
            <a:r>
              <a:rPr sz="1600" b="0">
                <a:solidFill>
                  <a:srgbClr val="94A3B8"/>
                </a:solidFill>
                <a:latin typeface="Calibri"/>
                <a:ea typeface="Microsoft YaHei"/>
              </a:rPr>
              <a:t>ordinances spanning 35 years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4880" y="1719072"/>
            <a:ext cx="73152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0" y="1600200"/>
            <a:ext cx="6400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  <a:ea typeface="Microsoft YaHei"/>
              </a:rPr>
              <a:t>No search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1965960"/>
            <a:ext cx="658368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Calibri"/>
                <a:ea typeface="Microsoft YaHei"/>
              </a:rPr>
              <a:t>Maria flips through physical binders for hours to find one ordinance.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0" y="2770632"/>
            <a:ext cx="73152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0" y="2651760"/>
            <a:ext cx="6400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  <a:ea typeface="Microsoft YaHei"/>
              </a:rPr>
              <a:t>No cross-references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3017520"/>
            <a:ext cx="658368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Calibri"/>
                <a:ea typeface="Microsoft YaHei"/>
              </a:rPr>
              <a:t>Conflicting ordinances go undetected until DILG audits.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54880" y="3822191"/>
            <a:ext cx="73152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0" y="3703320"/>
            <a:ext cx="6400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  <a:ea typeface="Microsoft YaHei"/>
              </a:rPr>
              <a:t>No codification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4069079"/>
            <a:ext cx="658368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Calibri"/>
                <a:ea typeface="Microsoft YaHei"/>
              </a:rPr>
              <a:t>Assembling code volumes takes weeks of manual compilation.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54880" y="4873752"/>
            <a:ext cx="73152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0" y="4754880"/>
            <a:ext cx="6400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  <a:ea typeface="Microsoft YaHei"/>
              </a:rPr>
              <a:t>Compliance risk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5120640"/>
            <a:ext cx="658368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Calibri"/>
                <a:ea typeface="Microsoft YaHei"/>
              </a:rPr>
              <a:t>DILG MC 2026-041 mandates digitization. Manual processes fail.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217920"/>
            <a:ext cx="110642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  <a:ea typeface="Microsoft YaHei"/>
              </a:rPr>
              <a:t>Who suffers: Maria the SB Secretary  •  DILG compliance officers  •  Municipal…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  <a:ea typeface="Microsoft YaHei"/>
              </a:rPr>
              <a:t>Two Modules. One Platform.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03520" cy="3291840"/>
          </a:xfrm>
          <a:prstGeom prst="roundRect">
            <a:avLst/>
          </a:prstGeom>
          <a:solidFill>
            <a:srgbClr val="141B2D"/>
          </a:solidFill>
          <a:ln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47548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2400" b="1">
                <a:solidFill>
                  <a:srgbClr val="F59E0B"/>
                </a:solidFill>
                <a:latin typeface="Calibri"/>
                <a:ea typeface="Microsoft YaHei"/>
              </a:rPr>
              <a:t>LIKHA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377440"/>
            <a:ext cx="475488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  <a:ea typeface="Microsoft YaHei"/>
              </a:rPr>
              <a:t>Digitizes, OCRs, classifies, and publishes ordinances.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108960"/>
            <a:ext cx="4754880" cy="16459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Calibri"/>
                <a:ea typeface="Microsoft YaHei"/>
              </a:rPr>
              <a:t>• Batch upload with AI OCR
• Auto metadata extraction
• Subject classification
• Mandatory HITL before publish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645920"/>
            <a:ext cx="5303520" cy="3291840"/>
          </a:xfrm>
          <a:prstGeom prst="roundRect">
            <a:avLst/>
          </a:prstGeom>
          <a:solidFill>
            <a:srgbClr val="141B2D"/>
          </a:solidFill>
          <a:ln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828800"/>
            <a:ext cx="47548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2400" b="1">
                <a:solidFill>
                  <a:srgbClr val="10B981"/>
                </a:solidFill>
                <a:latin typeface="Calibri"/>
                <a:ea typeface="Microsoft YaHei"/>
              </a:rPr>
              <a:t>LINAW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377440"/>
            <a:ext cx="475488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  <a:ea typeface="Microsoft YaHei"/>
              </a:rPr>
              <a:t>Imports, cross-references, detects conflicts, and assembles codified volumes.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3108960"/>
            <a:ext cx="4754880" cy="16459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Calibri"/>
                <a:ea typeface="Microsoft YaHei"/>
              </a:rPr>
              <a:t>• Cross-reference detection
• Conflict flagging with scores
• Code volume assembly
• BM25 search in &lt;1ms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303520"/>
            <a:ext cx="11064240" cy="914400"/>
          </a:xfrm>
          <a:prstGeom prst="roundRect">
            <a:avLst/>
          </a:prstGeom>
          <a:solidFill>
            <a:srgbClr val="141B2D"/>
          </a:solidFill>
          <a:ln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394960"/>
            <a:ext cx="22860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ctr"/>
            <a:r>
              <a:rPr sz="2800" b="1">
                <a:solidFill>
                  <a:srgbClr val="10B981"/>
                </a:solidFill>
                <a:latin typeface="Calibri"/>
                <a:ea typeface="Microsoft YaHei"/>
              </a:rPr>
              <a:t>97.6%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852160"/>
            <a:ext cx="22860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ctr"/>
            <a:r>
              <a:rPr sz="1100" b="0">
                <a:solidFill>
                  <a:srgbClr val="94A3B8"/>
                </a:solidFill>
                <a:latin typeface="Calibri"/>
                <a:ea typeface="Microsoft YaHei"/>
              </a:rPr>
              <a:t>UAT Pass Rate  •  GO Verdict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5394960"/>
            <a:ext cx="27432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ctr"/>
            <a:r>
              <a:rPr sz="2800" b="1">
                <a:solidFill>
                  <a:srgbClr val="8B5CF6"/>
                </a:solidFill>
                <a:latin typeface="Calibri"/>
                <a:ea typeface="Microsoft YaHei"/>
              </a:rPr>
              <a:t>~24 hrs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5852160"/>
            <a:ext cx="2743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ctr"/>
            <a:r>
              <a:rPr sz="1100" b="0">
                <a:solidFill>
                  <a:srgbClr val="94A3B8"/>
                </a:solidFill>
                <a:latin typeface="Calibri"/>
                <a:ea typeface="Microsoft YaHei"/>
              </a:rPr>
              <a:t>Built in ~24 Hours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5486400"/>
            <a:ext cx="27432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ctr"/>
            <a:r>
              <a:rPr sz="1400" b="0">
                <a:solidFill>
                  <a:srgbClr val="10B981"/>
                </a:solidFill>
                <a:latin typeface="Calibri"/>
                <a:ea typeface="Microsoft YaHei"/>
              </a:rPr>
              <a:t>pillar.bayanaihan.net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  <a:ea typeface="Microsoft YaHei"/>
              </a:rPr>
              <a:t>Built for Legislative Workflows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3474720" cy="3474720"/>
          </a:xfrm>
          <a:prstGeom prst="roundRect">
            <a:avLst/>
          </a:prstGeom>
          <a:solidFill>
            <a:srgbClr val="141B2D"/>
          </a:solidFill>
          <a:ln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29260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600" b="1">
                <a:solidFill>
                  <a:srgbClr val="F59E0B"/>
                </a:solidFill>
                <a:latin typeface="Calibri"/>
                <a:ea typeface="Microsoft YaHei"/>
              </a:rPr>
              <a:t>Batch Upload + AI OCR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468880"/>
            <a:ext cx="2926080" cy="10972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Calibri"/>
                <a:ea typeface="Microsoft YaHei"/>
              </a:rPr>
              <a:t>10 files in
under 2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840480"/>
            <a:ext cx="292608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alibri"/>
                <a:ea typeface="Microsoft YaHei"/>
              </a:rPr>
              <a:t>14s OCR latency per document.
Metadata extraction and classification happen automatically.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645920"/>
            <a:ext cx="3474720" cy="3474720"/>
          </a:xfrm>
          <a:prstGeom prst="roundRect">
            <a:avLst/>
          </a:prstGeom>
          <a:solidFill>
            <a:srgbClr val="141B2D"/>
          </a:solidFill>
          <a:ln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828800"/>
            <a:ext cx="29260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600" b="1">
                <a:solidFill>
                  <a:srgbClr val="10B981"/>
                </a:solidFill>
                <a:latin typeface="Calibri"/>
                <a:ea typeface="Microsoft YaHei"/>
              </a:rPr>
              <a:t>Cross-Reference Detection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468880"/>
            <a:ext cx="2926080" cy="10972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Calibri"/>
                <a:ea typeface="Microsoft YaHei"/>
              </a:rPr>
              <a:t>100%
precision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3840480"/>
            <a:ext cx="292608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alibri"/>
                <a:ea typeface="Microsoft YaHei"/>
              </a:rPr>
              <a:t>Zero false positives on test fixtures.
Conflicts flagged with confidence scores.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645920"/>
            <a:ext cx="3474720" cy="3474720"/>
          </a:xfrm>
          <a:prstGeom prst="roundRect">
            <a:avLst/>
          </a:prstGeom>
          <a:solidFill>
            <a:srgbClr val="141B2D"/>
          </a:solidFill>
          <a:ln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1828800"/>
            <a:ext cx="29260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600" b="1">
                <a:solidFill>
                  <a:srgbClr val="8B5CF6"/>
                </a:solidFill>
                <a:latin typeface="Calibri"/>
                <a:ea typeface="Microsoft YaHei"/>
              </a:rPr>
              <a:t>Code Assembly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2468880"/>
            <a:ext cx="2926080" cy="10972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Calibri"/>
                <a:ea typeface="Microsoft YaHei"/>
              </a:rPr>
              <a:t>&lt;1ms
search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3840480"/>
            <a:ext cx="292608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alibri"/>
                <a:ea typeface="Microsoft YaHei"/>
              </a:rPr>
              <a:t>Ordinances to codified volumes automatically.
BM25 search across full corpus.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486400"/>
            <a:ext cx="11064240" cy="822960"/>
          </a:xfrm>
          <a:prstGeom prst="roundRect">
            <a:avLst/>
          </a:prstGeom>
          <a:solidFill>
            <a:srgbClr val="141B2D"/>
          </a:solidFill>
          <a:ln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5577840"/>
            <a:ext cx="105156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ctr"/>
            <a:r>
              <a:rPr sz="1400" b="1">
                <a:solidFill>
                  <a:srgbClr val="F59E0B"/>
                </a:solidFill>
                <a:latin typeface="Calibri"/>
                <a:ea typeface="Microsoft YaHei"/>
              </a:rPr>
              <a:t>Mandatory HITL: Every legal decision point requires human approval. The AI suggests. A human decides.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3272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Calibri"/>
                <a:ea typeface="Microsoft YaHei"/>
              </a:rPr>
              <a:t>Try It Yourself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3272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ctr"/>
            <a:r>
              <a:rPr sz="2800" b="1">
                <a:solidFill>
                  <a:srgbClr val="10B981"/>
                </a:solidFill>
                <a:latin typeface="Calibri"/>
                <a:ea typeface="Microsoft YaHei"/>
              </a:rPr>
              <a:t>pillar.bayanaihan.net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37760" y="3657600"/>
            <a:ext cx="2286000" cy="2286000"/>
          </a:xfrm>
          <a:prstGeom prst="roundRect">
            <a:avLst/>
          </a:prstGeom>
          <a:solidFill>
            <a:srgbClr val="141B2D"/>
          </a:solidFill>
          <a:ln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37760" y="4389120"/>
            <a:ext cx="22860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ctr"/>
            <a:r>
              <a:rPr sz="1400" b="0">
                <a:solidFill>
                  <a:srgbClr val="94A3B8"/>
                </a:solidFill>
                <a:latin typeface="Calibri"/>
                <a:ea typeface="Microsoft YaHei"/>
              </a:rPr>
              <a:t>[QR Code]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4846320"/>
            <a:ext cx="22860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ctr"/>
            <a:r>
              <a:rPr sz="1100" b="0">
                <a:solidFill>
                  <a:srgbClr val="94A3B8"/>
                </a:solidFill>
                <a:latin typeface="Calibri"/>
                <a:ea typeface="Microsoft YaHei"/>
              </a:rPr>
              <a:t>Scan to try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6035040"/>
            <a:ext cx="103327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ctr"/>
            <a:r>
              <a:rPr sz="1600" b="0">
                <a:solidFill>
                  <a:srgbClr val="94A3B8"/>
                </a:solidFill>
                <a:latin typeface="Calibri"/>
                <a:ea typeface="Microsoft YaHei"/>
              </a:rPr>
              <a:t>From paper to codified law, one ordinance at a time.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6400800"/>
            <a:ext cx="103327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ctr"/>
            <a:r>
              <a:rPr sz="1200" b="0">
                <a:solidFill>
                  <a:srgbClr val="F59E0B"/>
                </a:solidFill>
                <a:latin typeface="Calibri"/>
                <a:ea typeface="Microsoft YaHei"/>
              </a:rPr>
              <a:t>Free to try  •  No installation  •  No commitment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